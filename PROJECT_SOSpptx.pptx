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elvetica World" charset="1" panose="020B0500040000020004"/>
      <p:regular r:id="rId13"/>
    </p:embeddedFont>
    <p:embeddedFont>
      <p:font typeface="Intro" charset="1" panose="02000000000000000000"/>
      <p:regular r:id="rId14"/>
    </p:embeddedFont>
    <p:embeddedFont>
      <p:font typeface="Canva Sans" charset="1" panose="020B0503030501040103"/>
      <p:regular r:id="rId15"/>
    </p:embeddedFont>
    <p:embeddedFont>
      <p:font typeface="Libra Sans" charset="1" panose="020B0604020202020204"/>
      <p:regular r:id="rId16"/>
    </p:embeddedFont>
    <p:embeddedFont>
      <p:font typeface="Libra Serif Modern" charset="1" panose="02000503080000020004"/>
      <p:regular r:id="rId17"/>
    </p:embeddedFont>
    <p:embeddedFont>
      <p:font typeface="Montserrat Bold" charset="1" panose="000006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sv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101" y="2741590"/>
            <a:ext cx="208264" cy="208264"/>
          </a:xfrm>
          <a:custGeom>
            <a:avLst/>
            <a:gdLst/>
            <a:ahLst/>
            <a:cxnLst/>
            <a:rect r="r" b="b" t="t" l="l"/>
            <a:pathLst>
              <a:path h="208264" w="208264">
                <a:moveTo>
                  <a:pt x="0" y="0"/>
                </a:moveTo>
                <a:lnTo>
                  <a:pt x="208264" y="0"/>
                </a:lnTo>
                <a:lnTo>
                  <a:pt x="208264" y="208264"/>
                </a:lnTo>
                <a:lnTo>
                  <a:pt x="0" y="208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101" y="4254198"/>
            <a:ext cx="208264" cy="208074"/>
          </a:xfrm>
          <a:custGeom>
            <a:avLst/>
            <a:gdLst/>
            <a:ahLst/>
            <a:cxnLst/>
            <a:rect r="r" b="b" t="t" l="l"/>
            <a:pathLst>
              <a:path h="208074" w="208264">
                <a:moveTo>
                  <a:pt x="0" y="0"/>
                </a:moveTo>
                <a:lnTo>
                  <a:pt x="208264" y="0"/>
                </a:lnTo>
                <a:lnTo>
                  <a:pt x="208264" y="208074"/>
                </a:lnTo>
                <a:lnTo>
                  <a:pt x="0" y="2080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1101" y="5912987"/>
            <a:ext cx="208264" cy="208264"/>
          </a:xfrm>
          <a:custGeom>
            <a:avLst/>
            <a:gdLst/>
            <a:ahLst/>
            <a:cxnLst/>
            <a:rect r="r" b="b" t="t" l="l"/>
            <a:pathLst>
              <a:path h="208264" w="208264">
                <a:moveTo>
                  <a:pt x="0" y="0"/>
                </a:moveTo>
                <a:lnTo>
                  <a:pt x="208264" y="0"/>
                </a:lnTo>
                <a:lnTo>
                  <a:pt x="208264" y="208264"/>
                </a:lnTo>
                <a:lnTo>
                  <a:pt x="0" y="208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1101" y="7322048"/>
            <a:ext cx="208264" cy="208264"/>
          </a:xfrm>
          <a:custGeom>
            <a:avLst/>
            <a:gdLst/>
            <a:ahLst/>
            <a:cxnLst/>
            <a:rect r="r" b="b" t="t" l="l"/>
            <a:pathLst>
              <a:path h="208264" w="208264">
                <a:moveTo>
                  <a:pt x="0" y="0"/>
                </a:moveTo>
                <a:lnTo>
                  <a:pt x="208264" y="0"/>
                </a:lnTo>
                <a:lnTo>
                  <a:pt x="208264" y="208265"/>
                </a:lnTo>
                <a:lnTo>
                  <a:pt x="0" y="208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81101" y="2741590"/>
            <a:ext cx="208264" cy="208264"/>
            <a:chOff x="0" y="0"/>
            <a:chExt cx="208267" cy="208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282" cy="208282"/>
            </a:xfrm>
            <a:custGeom>
              <a:avLst/>
              <a:gdLst/>
              <a:ahLst/>
              <a:cxnLst/>
              <a:rect r="r" b="b" t="t" l="l"/>
              <a:pathLst>
                <a:path h="208282" w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1101" y="4254198"/>
            <a:ext cx="208264" cy="208264"/>
            <a:chOff x="0" y="0"/>
            <a:chExt cx="208267" cy="208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282" cy="208282"/>
            </a:xfrm>
            <a:custGeom>
              <a:avLst/>
              <a:gdLst/>
              <a:ahLst/>
              <a:cxnLst/>
              <a:rect r="r" b="b" t="t" l="l"/>
              <a:pathLst>
                <a:path h="208282" w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81101" y="5539845"/>
            <a:ext cx="208264" cy="208264"/>
            <a:chOff x="0" y="0"/>
            <a:chExt cx="208267" cy="2082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282" cy="208282"/>
            </a:xfrm>
            <a:custGeom>
              <a:avLst/>
              <a:gdLst/>
              <a:ahLst/>
              <a:cxnLst/>
              <a:rect r="r" b="b" t="t" l="l"/>
              <a:pathLst>
                <a:path h="208282" w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1101" y="7322048"/>
            <a:ext cx="208264" cy="208264"/>
            <a:chOff x="0" y="0"/>
            <a:chExt cx="208267" cy="2082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8282" cy="208282"/>
            </a:xfrm>
            <a:custGeom>
              <a:avLst/>
              <a:gdLst/>
              <a:ahLst/>
              <a:cxnLst/>
              <a:rect r="r" b="b" t="t" l="l"/>
              <a:pathLst>
                <a:path h="208282" w="208282">
                  <a:moveTo>
                    <a:pt x="0" y="208282"/>
                  </a:moveTo>
                  <a:lnTo>
                    <a:pt x="208282" y="208282"/>
                  </a:lnTo>
                  <a:lnTo>
                    <a:pt x="2082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499968" y="9557375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7629" y="2447363"/>
            <a:ext cx="7731052" cy="77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Problem Statement ID 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6794" y="3942064"/>
            <a:ext cx="3656781" cy="72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4"/>
              </a:lnSpc>
            </a:pPr>
            <a:r>
              <a:rPr lang="en-US" sz="421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Team Name 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214710"/>
            <a:ext cx="5329304" cy="266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sz="4757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TEAM ID : TEAM MEMBERS :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92270" y="2463683"/>
            <a:ext cx="6904315" cy="65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5"/>
              </a:lnSpc>
              <a:spcBef>
                <a:spcPct val="0"/>
              </a:spcBef>
            </a:pPr>
            <a:r>
              <a:rPr lang="en-US" sz="3668">
                <a:solidFill>
                  <a:srgbClr val="FFFFFF"/>
                </a:solidFill>
                <a:latin typeface="Libra Sans"/>
                <a:ea typeface="Libra Sans"/>
                <a:cs typeface="Libra Sans"/>
                <a:sym typeface="Libra Sans"/>
              </a:rPr>
              <a:t>Open Innovation (Women Safety)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16988" y="3984370"/>
            <a:ext cx="3047524" cy="63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Libra Sans"/>
                <a:ea typeface="Libra Sans"/>
                <a:cs typeface="Libra Sans"/>
                <a:sym typeface="Libra Sans"/>
              </a:rPr>
              <a:t>CodeBloodedX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73575" y="5756992"/>
            <a:ext cx="1536025" cy="63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Libra Sans"/>
                <a:ea typeface="Libra Sans"/>
                <a:cs typeface="Libra Sans"/>
                <a:sym typeface="Libra Sans"/>
              </a:rPr>
              <a:t>HK-130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52036" y="7226798"/>
            <a:ext cx="3424952" cy="189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Libra Sans"/>
                <a:ea typeface="Libra Sans"/>
                <a:cs typeface="Libra Sans"/>
                <a:sym typeface="Libra Sans"/>
              </a:rPr>
              <a:t>Nikki Chauhan</a:t>
            </a:r>
          </a:p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Libra Sans"/>
                <a:ea typeface="Libra Sans"/>
                <a:cs typeface="Libra Sans"/>
                <a:sym typeface="Libra Sans"/>
              </a:rPr>
              <a:t>  Piyush</a:t>
            </a:r>
          </a:p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Libra Sans"/>
                <a:ea typeface="Libra Sans"/>
                <a:cs typeface="Libra Sans"/>
                <a:sym typeface="Libra Sans"/>
              </a:rPr>
              <a:t> Mohini Chauhan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569205" y="9570044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92132" y="1313440"/>
            <a:ext cx="5640229" cy="65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2"/>
              </a:lnSpc>
            </a:pPr>
            <a:r>
              <a:rPr lang="en-US" sz="3801">
                <a:solidFill>
                  <a:srgbClr val="1F77D9"/>
                </a:solidFill>
                <a:latin typeface="Intro"/>
                <a:ea typeface="Intro"/>
                <a:cs typeface="Intro"/>
                <a:sym typeface="Intro"/>
              </a:rPr>
              <a:t>Problem &amp; SOLUTION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5933" y="1893151"/>
            <a:ext cx="16552626" cy="149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3661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Problem</a:t>
            </a:r>
          </a:p>
          <a:p>
            <a:pPr algn="l">
              <a:lnSpc>
                <a:spcPts val="3410"/>
              </a:lnSpc>
            </a:pPr>
          </a:p>
          <a:p>
            <a:pPr algn="l">
              <a:lnSpc>
                <a:spcPts val="341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0099" y="5067300"/>
            <a:ext cx="15743876" cy="144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42"/>
              </a:lnSpc>
            </a:pPr>
            <a:r>
              <a:rPr lang="en-US" sz="353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Solution</a:t>
            </a:r>
          </a:p>
          <a:p>
            <a:pPr algn="just">
              <a:lnSpc>
                <a:spcPts val="3262"/>
              </a:lnSpc>
            </a:pPr>
          </a:p>
          <a:p>
            <a:pPr algn="just">
              <a:lnSpc>
                <a:spcPts val="326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33164" y="5169919"/>
            <a:ext cx="16942977" cy="420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</a:p>
          <a:p>
            <a:pPr algn="l" marL="576064" indent="-288032" lvl="1">
              <a:lnSpc>
                <a:spcPts val="3735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Pre-travel safety analysis of selected destination</a:t>
            </a:r>
          </a:p>
          <a:p>
            <a:pPr algn="l" marL="576064" indent="-288032" lvl="1">
              <a:lnSpc>
                <a:spcPts val="3735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Suggests Safest Route (not just shortest route)</a:t>
            </a:r>
          </a:p>
          <a:p>
            <a:pPr algn="l" marL="576064" indent="-288032" lvl="1">
              <a:lnSpc>
                <a:spcPts val="3735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Real-time risk alerts for unsafe areas</a:t>
            </a:r>
          </a:p>
          <a:p>
            <a:pPr algn="l" marL="576064" indent="-288032" lvl="1">
              <a:lnSpc>
                <a:spcPts val="3735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Secret SOS-triggered video &amp; audio recording</a:t>
            </a:r>
          </a:p>
          <a:p>
            <a:pPr algn="l" marL="576064" indent="-288032" lvl="1">
              <a:lnSpc>
                <a:spcPts val="3735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Encrypted cloud evidence storage</a:t>
            </a:r>
          </a:p>
          <a:p>
            <a:pPr algn="l" marL="576064" indent="-288032" lvl="1">
              <a:lnSpc>
                <a:spcPts val="3735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Instant live location sharing with trusted contacts</a:t>
            </a:r>
          </a:p>
          <a:p>
            <a:pPr algn="l" marL="576064" indent="-288032" lvl="1">
              <a:lnSpc>
                <a:spcPts val="3735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Automatic call &amp; SMS to nearest women helpline &amp; police</a:t>
            </a:r>
          </a:p>
          <a:p>
            <a:pPr algn="l" marL="576064" indent="-288032" lvl="1">
              <a:lnSpc>
                <a:spcPts val="3735"/>
              </a:lnSpc>
              <a:buFont typeface="Arial"/>
              <a:buChar char="•"/>
            </a:pPr>
            <a:r>
              <a:rPr lang="en-US" sz="26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Enables real-time monitoring through a dashboard with emergency status and evidence timeline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1429" y="2622513"/>
            <a:ext cx="13642246" cy="234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22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CURRENT SAFETY SOLUTIONS MAINLY FOCUS ON SENDING SOS ALERTS AFTER AN EMERGENCY OCCURS BUT FAIL TO PROTECT REAL-TIME EVIDENCE.</a:t>
            </a:r>
          </a:p>
          <a:p>
            <a:pPr algn="l">
              <a:lnSpc>
                <a:spcPts val="3114"/>
              </a:lnSpc>
            </a:pPr>
            <a:r>
              <a:rPr lang="en-US" sz="222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IN REAL-WORLD INCIDENTS, CRITICAL VIDEO, AUDIO, AND LOCATION DATA CAN BE LOST IF DEVICES ARE DAMAGED, TAKEN, OR TAMPERED WITH.</a:t>
            </a:r>
          </a:p>
          <a:p>
            <a:pPr algn="l">
              <a:lnSpc>
                <a:spcPts val="3114"/>
              </a:lnSpc>
              <a:spcBef>
                <a:spcPct val="0"/>
              </a:spcBef>
            </a:pPr>
            <a:r>
              <a:rPr lang="en-US" sz="222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ADDITIONALLY, MOST SAFETY SYSTEMS DO NOT HELP USERS DURING RISKY SITUATIONS BEFORE AN EMERGENCY ACTUALLY HAPPENS.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14941" y="1174680"/>
            <a:ext cx="14197882" cy="8691701"/>
          </a:xfrm>
          <a:custGeom>
            <a:avLst/>
            <a:gdLst/>
            <a:ahLst/>
            <a:cxnLst/>
            <a:rect r="r" b="b" t="t" l="l"/>
            <a:pathLst>
              <a:path h="8691701" w="14197882">
                <a:moveTo>
                  <a:pt x="0" y="0"/>
                </a:moveTo>
                <a:lnTo>
                  <a:pt x="14197883" y="0"/>
                </a:lnTo>
                <a:lnTo>
                  <a:pt x="14197883" y="8691701"/>
                </a:lnTo>
                <a:lnTo>
                  <a:pt x="0" y="8691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989" r="0" b="-18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526257" y="9590827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11578" y="691802"/>
            <a:ext cx="4464844" cy="59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3472">
                <a:solidFill>
                  <a:srgbClr val="1F77D9"/>
                </a:solidFill>
                <a:latin typeface="Intro"/>
                <a:ea typeface="Intro"/>
                <a:cs typeface="Intro"/>
                <a:sym typeface="Intro"/>
              </a:rPr>
              <a:t>Flow of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560871" y="9764563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55223" y="1183434"/>
            <a:ext cx="6591181" cy="66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2"/>
              </a:lnSpc>
            </a:pPr>
            <a:r>
              <a:rPr lang="en-US" b="true" sz="3866" spc="-46">
                <a:solidFill>
                  <a:srgbClr val="1F77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 STACK &amp; APPROACH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429" y="1889522"/>
            <a:ext cx="2871669" cy="61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Tech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1429" y="6409119"/>
            <a:ext cx="2655570" cy="61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446590"/>
            <a:ext cx="8334851" cy="366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2993" indent="-321496" lvl="1">
              <a:lnSpc>
                <a:spcPts val="4169"/>
              </a:lnSpc>
              <a:buFont typeface="Arial"/>
              <a:buChar char="•"/>
            </a:pPr>
            <a:r>
              <a:rPr lang="en-US" sz="297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Frontend: Android Mobile App (Kotlin)</a:t>
            </a:r>
          </a:p>
          <a:p>
            <a:pPr algn="just" marL="642993" indent="-321496" lvl="1">
              <a:lnSpc>
                <a:spcPts val="4169"/>
              </a:lnSpc>
              <a:buFont typeface="Arial"/>
              <a:buChar char="•"/>
            </a:pPr>
            <a:r>
              <a:rPr lang="en-US" sz="297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Backend: Supabase</a:t>
            </a:r>
          </a:p>
          <a:p>
            <a:pPr algn="just" marL="642993" indent="-321496" lvl="1">
              <a:lnSpc>
                <a:spcPts val="4169"/>
              </a:lnSpc>
              <a:buFont typeface="Arial"/>
              <a:buChar char="•"/>
            </a:pPr>
            <a:r>
              <a:rPr lang="en-US" sz="297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Database: PostgreSQL (Supabase)</a:t>
            </a:r>
          </a:p>
          <a:p>
            <a:pPr algn="just" marL="642993" indent="-321496" lvl="1">
              <a:lnSpc>
                <a:spcPts val="4169"/>
              </a:lnSpc>
              <a:buFont typeface="Arial"/>
              <a:buChar char="•"/>
            </a:pPr>
            <a:r>
              <a:rPr lang="en-US" sz="297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Cloud Storage: Supabase Storage (Encrypted files)</a:t>
            </a:r>
          </a:p>
          <a:p>
            <a:pPr algn="just" marL="642993" indent="-321496" lvl="1">
              <a:lnSpc>
                <a:spcPts val="4169"/>
              </a:lnSpc>
              <a:buFont typeface="Arial"/>
              <a:buChar char="•"/>
            </a:pPr>
            <a:r>
              <a:rPr lang="en-US" sz="297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Authentication: Supabase Auth</a:t>
            </a:r>
          </a:p>
          <a:p>
            <a:pPr algn="just" marL="642993" indent="-321496" lvl="1">
              <a:lnSpc>
                <a:spcPts val="4169"/>
              </a:lnSpc>
              <a:buFont typeface="Arial"/>
              <a:buChar char="•"/>
            </a:pPr>
            <a:r>
              <a:rPr lang="en-US" sz="297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Location &amp; Maps: Google Maps API</a:t>
            </a:r>
          </a:p>
          <a:p>
            <a:pPr algn="just" marL="642993" indent="-321496" lvl="1">
              <a:lnSpc>
                <a:spcPts val="4169"/>
              </a:lnSpc>
              <a:buFont typeface="Arial"/>
              <a:buChar char="•"/>
            </a:pPr>
            <a:r>
              <a:rPr lang="en-US" sz="297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Encryption: Secure file encryption before upload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185262"/>
            <a:ext cx="9579173" cy="261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2679" indent="-321339" lvl="1">
              <a:lnSpc>
                <a:spcPts val="4167"/>
              </a:lnSpc>
              <a:buFont typeface="Arial"/>
              <a:buChar char="•"/>
            </a:pPr>
            <a:r>
              <a:rPr lang="en-US" sz="2976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Risk-based route analysis instead of distance-based routing</a:t>
            </a:r>
          </a:p>
          <a:p>
            <a:pPr algn="just" marL="642679" indent="-321339" lvl="1">
              <a:lnSpc>
                <a:spcPts val="4167"/>
              </a:lnSpc>
              <a:buFont typeface="Arial"/>
              <a:buChar char="•"/>
            </a:pPr>
            <a:r>
              <a:rPr lang="en-US" sz="2976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Real-time monitoring system</a:t>
            </a:r>
          </a:p>
          <a:p>
            <a:pPr algn="just" marL="642679" indent="-321339" lvl="1">
              <a:lnSpc>
                <a:spcPts val="4167"/>
              </a:lnSpc>
              <a:buFont typeface="Arial"/>
              <a:buChar char="•"/>
            </a:pPr>
            <a:r>
              <a:rPr lang="en-US" sz="2976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Automated emergency response mechanism</a:t>
            </a:r>
          </a:p>
          <a:p>
            <a:pPr algn="just" marL="642679" indent="-321339" lvl="1">
              <a:lnSpc>
                <a:spcPts val="4167"/>
              </a:lnSpc>
              <a:buFont typeface="Arial"/>
              <a:buChar char="•"/>
            </a:pPr>
            <a:r>
              <a:rPr lang="en-US" sz="2976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End-to-end encrypted evidence storage</a:t>
            </a:r>
          </a:p>
          <a:p>
            <a:pPr algn="just" marL="642679" indent="-321339" lvl="1">
              <a:lnSpc>
                <a:spcPts val="4167"/>
              </a:lnSpc>
              <a:buFont typeface="Arial"/>
              <a:buChar char="•"/>
            </a:pPr>
            <a:r>
              <a:rPr lang="en-US" sz="2976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Scalable architecture for smart cities integration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446323" y="9463240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63141" y="1204277"/>
            <a:ext cx="9373553" cy="68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7"/>
              </a:lnSpc>
            </a:pPr>
            <a:r>
              <a:rPr lang="en-US" sz="3862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UNIQUENESS &amp; INNOVATION FACTOR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429" y="1986726"/>
            <a:ext cx="8889087" cy="63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5"/>
              </a:lnSpc>
              <a:spcBef>
                <a:spcPct val="0"/>
              </a:spcBef>
            </a:pPr>
            <a:r>
              <a:rPr lang="en-US" sz="36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What Makes AdiShakti Different?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6574" y="2726478"/>
            <a:ext cx="13522087" cy="756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</a:t>
            </a: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Shifts safety from reactive SOS response to proactive danger prevention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Integrates pre-risk monitoring and emergency evidence protection in one platform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Real-time cloud upload of video, audio, and location during recording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Tamper-resistant evidence storage with timestamp and GPS tagging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Suggests safest route instead of shortest route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Pre-travel risk alerts before entering unsafe areas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Stealth emergency activation using secret triggers (volume hold / gesture)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Fully automatic emergency response system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Live location sharing with trusted contacts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Auto-call and SMS to nearest women helpline and police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Encrypted cloud-based evidence storage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Works even if device is damaged, lost, or taken</a:t>
            </a:r>
          </a:p>
          <a:p>
            <a:pPr algn="l" marL="661578" indent="-330789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Covers complete safety lifecycle: Prevention → Protection → Proof</a:t>
            </a:r>
          </a:p>
          <a:p>
            <a:pPr algn="l">
              <a:lnSpc>
                <a:spcPts val="428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259300" y="9514551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45232" y="1199769"/>
            <a:ext cx="5827547" cy="54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3204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Feasibility &amp;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2369" y="1669123"/>
            <a:ext cx="2847261" cy="61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Feasibility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1833" y="2207141"/>
            <a:ext cx="14415969" cy="262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Built using Kotlin (Android-native) → Highly practical &amp; implementable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Supabase backend → Scalable cloud infrastructure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No experimental or untested hardware required — works on standard Android smartphones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Can be developed and deployed quickly as a working MVP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Cloud-based architecture allows easy scaling as users increase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0047" y="5162550"/>
            <a:ext cx="9459516" cy="480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• Ensuring real-time cloud upload with unstable or low internet connectivity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Managing high storage and bandwidth costs for continuous video recording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Maintaining strong data encryption while keeping system performance fast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Preventing false triggers in automatic emergency detection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Ensuring user privacy and compliance with data protection regulations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Battery optimization during background recording and GPS tracking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Handling device-level restrictions on background services (Android limitations)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Securing cloud storage against cyberattacks or unauthorized access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Integrating with police and emergency helpline systems across different regions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Achieving user trust and adoption for continuous monitoring features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Scaling infrastructure as user base increases</a:t>
            </a:r>
          </a:p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Supporting multi-language and region-specific safety data integration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4219" y="5334000"/>
            <a:ext cx="2128123" cy="43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  <a:spcBef>
                <a:spcPct val="0"/>
              </a:spcBef>
            </a:pPr>
            <a:r>
              <a:rPr lang="en-US" sz="2468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C</a:t>
            </a:r>
            <a:r>
              <a:rPr lang="en-US" sz="2468">
                <a:solidFill>
                  <a:srgbClr val="000000"/>
                </a:solidFill>
                <a:latin typeface="Intro"/>
                <a:ea typeface="Intro"/>
                <a:cs typeface="Intro"/>
                <a:sym typeface="Intro"/>
              </a:rPr>
              <a:t>hallenges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2369" y="5143500"/>
            <a:ext cx="3076456" cy="61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Challenges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0047" y="5871990"/>
            <a:ext cx="11468815" cy="353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• </a:t>
            </a:r>
            <a:r>
              <a:rPr lang="en-US" sz="28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Ensuring real-time cloud upload during low or unstable internet connectivity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Managing high storage and bandwidth costs for continuous recording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Maintaining strong data encryption while ensuring fast system performance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Preventing false triggers in automatic emergency detection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Battery optimization for continuous background recording and GPS tracking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Integrating effectively with police and emergency helpline systems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sz="28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 • Securing cloud infrastructure against cyberattacks and unauthorized access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15" y="134693"/>
            <a:ext cx="1104900" cy="1104900"/>
            <a:chOff x="0" y="0"/>
            <a:chExt cx="1473200" cy="147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259300" y="9540821"/>
            <a:ext cx="413871" cy="49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37296" y="1278560"/>
            <a:ext cx="5112382" cy="56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4483F8"/>
                </a:solidFill>
                <a:latin typeface="Intro"/>
                <a:ea typeface="Intro"/>
                <a:cs typeface="Intro"/>
                <a:sym typeface="Intro"/>
              </a:rPr>
              <a:t>Research &amp; Reference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429" y="359273"/>
            <a:ext cx="3641712" cy="61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5"/>
              </a:lnSpc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HACK KRMU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3515" y="2105313"/>
            <a:ext cx="3942874" cy="61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 Research Base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6251" y="2935418"/>
            <a:ext cx="13775666" cy="209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National Crime Records Bureau (NCRB) crime reports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Women safety research studies on predictive analytics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Smart city surveillance systems research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Emergency response automation systems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4830" y="5327001"/>
            <a:ext cx="5797272" cy="61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5"/>
              </a:lnSpc>
              <a:spcBef>
                <a:spcPct val="0"/>
              </a:spcBef>
            </a:pPr>
            <a:r>
              <a:rPr lang="en-US" sz="3568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Technical 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06251" y="6080906"/>
            <a:ext cx="7990523" cy="209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Google Maps API Documentation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Supabase Official Documentation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Android (Kotlin) Developer Documentation</a:t>
            </a:r>
          </a:p>
          <a:p>
            <a:pPr algn="l" marL="640833" indent="-320416" lvl="1">
              <a:lnSpc>
                <a:spcPts val="4155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Libra Serif Modern"/>
                <a:ea typeface="Libra Serif Modern"/>
                <a:cs typeface="Libra Serif Modern"/>
                <a:sym typeface="Libra Serif Modern"/>
              </a:rPr>
              <a:t>Data encryption &amp; cybersecurity research papers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DAHBqwuDAqA</dc:identifier>
  <dcterms:modified xsi:type="dcterms:W3CDTF">2011-08-01T06:04:30Z</dcterms:modified>
  <cp:revision>1</cp:revision>
  <dc:title>Your paragraph text</dc:title>
</cp:coreProperties>
</file>